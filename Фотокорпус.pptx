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a1ac6e9e-9791-5523-db79-9a3c3f91f2e1}">
          <p14:sldIdLst>
            <p14:sldId id="256"/>
          </p14:sldIdLst>
        </p14:section>
        <p14:section name="Бизнес-модель" id="{dcdf5367-6dc9-1add-f837-599ad782b6e0}">
          <p14:sldIdLst>
            <p14:sldId id="257"/>
            <p14:sldId id="258"/>
            <p14:sldId id="259"/>
            <p14:sldId id="260"/>
          </p14:sldIdLst>
        </p14:section>
        <p14:section name="Позиционирование" id="{cabb5140-9024-9ad8-9a71-5d11773533f0}">
          <p14:sldIdLst>
            <p14:sldId id="261"/>
          </p14:sldIdLst>
        </p14:section>
        <p14:section name="Айдентика" id="{9ea71a7a-f349-5e81-54f2-ed4facdc4a7b}">
          <p14:sldIdLst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ёмный титул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6.png"/><Relationship Id="rId8" Type="http://schemas.openxmlformats.org/officeDocument/2006/relationships/image" Target="../media/image-9-6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 БРЕНДА</a:t>
            </a:r>
            <a:endParaRPr lang="en-US" sz="1100" dirty="0"/>
          </a:p>
        </p:txBody>
      </p:sp>
      <p:pic>
        <p:nvPicPr>
          <p:cNvPr id="3" name="Image 0" descr="Логотип ФОТОКОРПУ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960120"/>
            <a:ext cx="7132320" cy="93351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1031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Фотостудия и «фабрика карточек» для продавцов маркетплейсов со своим товаром. Зеленоград.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«Снято честно. Проверено кликом.»</a:t>
            </a:r>
            <a:endParaRPr lang="en-US" sz="2200" dirty="0"/>
          </a:p>
        </p:txBody>
      </p:sp>
      <p:sp>
        <p:nvSpPr>
          <p:cNvPr id="6" name="title-card-1"/>
          <p:cNvSpPr/>
          <p:nvPr/>
        </p:nvSpPr>
        <p:spPr>
          <a:xfrm>
            <a:off x="548640" y="4663440"/>
            <a:ext cx="3545738" cy="1417320"/>
          </a:xfrm>
          <a:prstGeom prst="roundRect">
            <a:avLst>
              <a:gd name="adj" fmla="val 3871"/>
            </a:avLst>
          </a:prstGeom>
          <a:solidFill>
            <a:schemeClr val="accent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4864608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мы продаём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21208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Карточку товара для Wildberries и Ozon: фото, инфографика и текст в одном пакете.</a:t>
            </a:r>
            <a:endParaRPr lang="en-US" sz="1300" dirty="0"/>
          </a:p>
        </p:txBody>
      </p:sp>
      <p:sp>
        <p:nvSpPr>
          <p:cNvPr id="9" name="title-card-2"/>
          <p:cNvSpPr/>
          <p:nvPr/>
        </p:nvSpPr>
        <p:spPr>
          <a:xfrm>
            <a:off x="4322978" y="4663440"/>
            <a:ext cx="3545738" cy="1417320"/>
          </a:xfrm>
          <a:prstGeom prst="roundRect">
            <a:avLst>
              <a:gd name="adj" fmla="val 3871"/>
            </a:avLst>
          </a:prstGeom>
          <a:solidFill>
            <a:schemeClr val="accent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51578" y="4864608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Наша карточка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51578" y="5285232"/>
            <a:ext cx="960120" cy="347472"/>
          </a:xfrm>
          <a:prstGeom prst="roundRect">
            <a:avLst>
              <a:gd name="adj" fmla="val 50000"/>
            </a:avLst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51578" y="52852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Готовая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21426" y="5285232"/>
            <a:ext cx="1234440" cy="347472"/>
          </a:xfrm>
          <a:prstGeom prst="roundRect">
            <a:avLst>
              <a:gd name="adj" fmla="val 50000"/>
            </a:avLst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1426" y="528523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Продающая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965594" y="5285232"/>
            <a:ext cx="960120" cy="347472"/>
          </a:xfrm>
          <a:prstGeom prst="roundRect">
            <a:avLst>
              <a:gd name="adj" fmla="val 50000"/>
            </a:avLst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65594" y="52852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</a:t>
            </a:r>
            <a:endParaRPr lang="en-US" sz="1200" dirty="0"/>
          </a:p>
        </p:txBody>
      </p:sp>
      <p:sp>
        <p:nvSpPr>
          <p:cNvPr id="17" name="title-card-3"/>
          <p:cNvSpPr/>
          <p:nvPr/>
        </p:nvSpPr>
        <p:spPr>
          <a:xfrm>
            <a:off x="8097317" y="4663440"/>
            <a:ext cx="3545738" cy="1417320"/>
          </a:xfrm>
          <a:prstGeom prst="roundRect">
            <a:avLst>
              <a:gd name="adj" fmla="val 3871"/>
            </a:avLst>
          </a:prstGeom>
          <a:solidFill>
            <a:schemeClr val="accent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25917" y="4864608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325917" y="521208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Зеленоград (ЗелАО, Москва). Снимаем в городе, образцы отдаём сразу после съёмки.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1 · ПРОИЗВОДСТВЕННЫЙ ПРОЦЕСС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От коробки до карточки за 48 часов</a:t>
            </a:r>
            <a:endParaRPr lang="en-US" sz="2800" dirty="0"/>
          </a:p>
        </p:txBody>
      </p:sp>
      <p:sp>
        <p:nvSpPr>
          <p:cNvPr id="4" name="step-1"/>
          <p:cNvSpPr/>
          <p:nvPr/>
        </p:nvSpPr>
        <p:spPr>
          <a:xfrm>
            <a:off x="548640" y="160020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Бриф и разбор выдачи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Онлайн, 10 минут: категория, площадка, референсы. Смотрим топ выдачи по запросу клиента и находим, чем выделиться.</a:t>
            </a:r>
            <a:endParaRPr lang="en-US" sz="1400" dirty="0"/>
          </a:p>
        </p:txBody>
      </p:sp>
      <p:sp>
        <p:nvSpPr>
          <p:cNvPr id="7" name="step-2"/>
          <p:cNvSpPr/>
          <p:nvPr/>
        </p:nvSpPr>
        <p:spPr>
          <a:xfrm>
            <a:off x="4322978" y="160020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51578" y="1801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51578" y="237744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товара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 приёма образцов, маркировка, проверка состояния, список кадров.</a:t>
            </a:r>
            <a:endParaRPr lang="en-US" sz="1400" dirty="0"/>
          </a:p>
        </p:txBody>
      </p:sp>
      <p:sp>
        <p:nvSpPr>
          <p:cNvPr id="10" name="step-3"/>
          <p:cNvSpPr/>
          <p:nvPr/>
        </p:nvSpPr>
        <p:spPr>
          <a:xfrm>
            <a:off x="8097317" y="160020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5917" y="1801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325917" y="237744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Съёмка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реальный товар: белый фон, сцены, детали, масштаб. Свет по типу товара. Образцы отдаём в тот же день.</a:t>
            </a:r>
            <a:endParaRPr lang="en-US" sz="1400" dirty="0"/>
          </a:p>
        </p:txBody>
      </p:sp>
      <p:sp>
        <p:nvSpPr>
          <p:cNvPr id="13" name="step-4"/>
          <p:cNvSpPr/>
          <p:nvPr/>
        </p:nvSpPr>
        <p:spPr>
          <a:xfrm>
            <a:off x="548640" y="384048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1772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Обработка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Цвет как в жизни, ретушь, фон. Формат 3:4, от 900×1200 px. ИИ только для фона, сам товар не меняем.</a:t>
            </a:r>
            <a:endParaRPr lang="en-US" sz="1400" dirty="0"/>
          </a:p>
        </p:txBody>
      </p:sp>
      <p:sp>
        <p:nvSpPr>
          <p:cNvPr id="16" name="step-5"/>
          <p:cNvSpPr/>
          <p:nvPr/>
        </p:nvSpPr>
        <p:spPr>
          <a:xfrm>
            <a:off x="4322978" y="384048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1578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551578" y="461772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Инфографика и текст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обложки, слайды с преимуществами и размерами, название, описание, характеристики, ключевые слова.</a:t>
            </a:r>
            <a:endParaRPr lang="en-US" sz="1400" dirty="0"/>
          </a:p>
        </p:txBody>
      </p:sp>
      <p:sp>
        <p:nvSpPr>
          <p:cNvPr id="19" name="step-6"/>
          <p:cNvSpPr/>
          <p:nvPr/>
        </p:nvSpPr>
        <p:spPr>
          <a:xfrm>
            <a:off x="8097317" y="384048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5917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8325917" y="461772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Сдача и тест обложки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готова за 48 часов, две правки включены. Затем A/B-тест двух обложек, оставляем ту, у которой выше CTR.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8932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WB до 30 фото в карточке, на Ozon до 15, на главном фото Ozon без инфографики. Тест обложки — в кабинете WB, для Ozon — внешние сервисы.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2 · ЦЕЛЕВАЯ АУДИТОРИЯ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Продавцы со своим товаром: 5–80 артикулов</a:t>
            </a:r>
            <a:endParaRPr lang="en-US" sz="2800" dirty="0"/>
          </a:p>
        </p:txBody>
      </p:sp>
      <p:sp>
        <p:nvSpPr>
          <p:cNvPr id="4" name="segment-1"/>
          <p:cNvSpPr/>
          <p:nvPr/>
        </p:nvSpPr>
        <p:spPr>
          <a:xfrm>
            <a:off x="548640" y="1600200"/>
            <a:ext cx="3545738" cy="3108960"/>
          </a:xfrm>
          <a:prstGeom prst="roundRect">
            <a:avLst>
              <a:gd name="adj" fmla="val 1765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Мастера и мини-производства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885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рукодельники, мастерские, небольшие цеха.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Продают: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мыло, свечи, керамику, текстиль, украшения.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703320"/>
            <a:ext cx="308853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813048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мы: </a:t>
            </a:r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 уникальный, фото от поставщика нет, нужен честный кадр.</a:t>
            </a:r>
            <a:endParaRPr lang="en-US" sz="1250" dirty="0"/>
          </a:p>
        </p:txBody>
      </p:sp>
      <p:sp>
        <p:nvSpPr>
          <p:cNvPr id="9" name="segment-2"/>
          <p:cNvSpPr/>
          <p:nvPr/>
        </p:nvSpPr>
        <p:spPr>
          <a:xfrm>
            <a:off x="4322978" y="1600200"/>
            <a:ext cx="3545738" cy="3108960"/>
          </a:xfrm>
          <a:prstGeom prst="roundRect">
            <a:avLst>
              <a:gd name="adj" fmla="val 1765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1578" y="180136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Местные магазины и бренды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51578" y="2240280"/>
            <a:ext cx="30885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офлайн-точки и салоны Зеленограда, которые выходят на маркетплейсы.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Продают: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одежду, подарки, зоотовары, товары для дома.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51578" y="3703320"/>
            <a:ext cx="308853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51578" y="3813048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мы: </a:t>
            </a:r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ассортимент есть, контента и опыта нет.</a:t>
            </a:r>
            <a:endParaRPr lang="en-US" sz="1250" dirty="0"/>
          </a:p>
        </p:txBody>
      </p:sp>
      <p:sp>
        <p:nvSpPr>
          <p:cNvPr id="14" name="segment-3"/>
          <p:cNvSpPr/>
          <p:nvPr/>
        </p:nvSpPr>
        <p:spPr>
          <a:xfrm>
            <a:off x="8097317" y="1600200"/>
            <a:ext cx="3545738" cy="3108960"/>
          </a:xfrm>
          <a:prstGeom prst="roundRect">
            <a:avLst>
              <a:gd name="adj" fmla="val 1765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5917" y="180136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Начинающие продавцы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5917" y="2240280"/>
            <a:ext cx="30885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выходят на маркетплейс: товар есть, а оборудования, опыта и навыков дизайна нет.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Продают: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артикулы: аксессуары, косметику, товары для дома.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25917" y="3703320"/>
            <a:ext cx="308853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5917" y="3813048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мы: </a:t>
            </a:r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получают карточку, которая с первого раза проходит требования WB и Ozon.</a:t>
            </a:r>
            <a:endParaRPr lang="en-US" sz="1250" dirty="0"/>
          </a:p>
        </p:txBody>
      </p:sp>
      <p:sp>
        <p:nvSpPr>
          <p:cNvPr id="19" name="pains"/>
          <p:cNvSpPr/>
          <p:nvPr/>
        </p:nvSpPr>
        <p:spPr>
          <a:xfrm>
            <a:off x="548640" y="4937760"/>
            <a:ext cx="11094415" cy="128016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1663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Боли клиента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68880" y="5230368"/>
            <a:ext cx="82296" cy="8229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33472" y="5157216"/>
            <a:ext cx="14782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Карточку видят, но не кликают: низкий CTR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94571" y="5230368"/>
            <a:ext cx="82296" cy="8229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459163" y="5157216"/>
            <a:ext cx="14782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Возвраты и отзывы «не соответствует фото»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20262" y="5230368"/>
            <a:ext cx="82296" cy="8229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84854" y="5157216"/>
            <a:ext cx="14782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времени искать фотографа, дизайнера и копирайтера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945953" y="5230368"/>
            <a:ext cx="82296" cy="8229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0545" y="5157216"/>
            <a:ext cx="14782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Непонятны требования WB и Ozon к фото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771644" y="5230368"/>
            <a:ext cx="82296" cy="8229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936236" y="5157216"/>
            <a:ext cx="14782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Заплатил за съёмку, а продаёт ли она, неизвестно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3 · КОНКУРЕНЦИЯ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Кто решает ту же задачу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2651760"/>
                <a:gridCol w="3154680"/>
                <a:gridCol w="231617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Конкурент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Сильные стороны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Слабые стороны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Наш ответ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Студии для маркетплейсов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Пиксель Плюс, Daily Studio, Кариба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не готовая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Опыт, оборудование, серийная съёмка; от 1 000 ₽ за артикул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Часто сдают только фото; продаёт ли карточка, не проверяют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целиком и тест обложки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Частные фотографы и аренда залов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Профи.ру, Авито, Vibes Studio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не готовая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Рядом, дёшево: от 1 000 ₽ в час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 стандарта и договора; ретушь и карточка на продавце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Стандарт, договор, две правки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Съёмка от площадок и фулфилмента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не продающая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Удобно рядом со складом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Шаблонно, поверхностная карточка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Обложка под выдачу клиента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ИИ-съёмка и генерация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не честная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Дёшево и быстро; студии обещают рост CTR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Товар «плывёт»; WB отклоняет сгенерированный товар и тестирует метку «Похоже на ИИ»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Реальный товар; ИИ только для фона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Фрилансеры-карточечники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не готовая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SEO и инфографика; под ключ от 16 900 ₽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 съёмки, фото берут у клиента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Один исполнитель на весь цикл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607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Зеленограде уже есть студии, залы и фотографы, поэтому близость не преимущество: мы отличаемся проверенным результатом. Красная пометка — какого из трёх свойств нашей карточки не хватает конкуренту.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4 · РЕКЛАМА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Идём туда, где сидят наши продавцы</a:t>
            </a:r>
            <a:endParaRPr lang="en-US" sz="2800" dirty="0"/>
          </a:p>
        </p:txBody>
      </p:sp>
      <p:sp>
        <p:nvSpPr>
          <p:cNvPr id="4" name="channel-1"/>
          <p:cNvSpPr/>
          <p:nvPr/>
        </p:nvSpPr>
        <p:spPr>
          <a:xfrm>
            <a:off x="548640" y="1600200"/>
            <a:ext cx="5394960" cy="1420368"/>
          </a:xfrm>
          <a:prstGeom prst="roundRect">
            <a:avLst>
              <a:gd name="adj" fmla="val 3863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Локальные каналы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493776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Чаты Зеленограда (ВК, Telegram), группы продавцов WB и Ozon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Объявления в коворкингах, у ПВЗ и точек доставки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Партнёрство с фулфилментами</a:t>
            </a:r>
            <a:endParaRPr lang="en-US" sz="1200" dirty="0"/>
          </a:p>
        </p:txBody>
      </p:sp>
      <p:sp>
        <p:nvSpPr>
          <p:cNvPr id="7" name="channel-2"/>
          <p:cNvSpPr/>
          <p:nvPr/>
        </p:nvSpPr>
        <p:spPr>
          <a:xfrm>
            <a:off x="548640" y="3221736"/>
            <a:ext cx="5394960" cy="1420368"/>
          </a:xfrm>
          <a:prstGeom prst="roundRect">
            <a:avLst>
              <a:gd name="adj" fmla="val 3863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3771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Цифровая реклама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678936"/>
            <a:ext cx="493776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Яндекс Директ и Карты: «фото для маркетплейсов Зеленоград»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в 2ГИС и Яндекс Картах с отзывами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Telegram-канал с разборами «до / после»</a:t>
            </a:r>
            <a:endParaRPr lang="en-US" sz="1200" dirty="0"/>
          </a:p>
        </p:txBody>
      </p:sp>
      <p:sp>
        <p:nvSpPr>
          <p:cNvPr id="10" name="channel-3"/>
          <p:cNvSpPr/>
          <p:nvPr/>
        </p:nvSpPr>
        <p:spPr>
          <a:xfrm>
            <a:off x="548640" y="4843272"/>
            <a:ext cx="5394960" cy="1420368"/>
          </a:xfrm>
          <a:prstGeom prst="roundRect">
            <a:avLst>
              <a:gd name="adj" fmla="val 3863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998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Доверие и промо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300472"/>
            <a:ext cx="493776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съёмка одного артикула со скидкой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Бесплатный разбор чужой карточки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A/B-тестов обложек (с согласия клиентов)</a:t>
            </a:r>
            <a:endParaRPr lang="en-US" sz="1200" dirty="0"/>
          </a:p>
        </p:txBody>
      </p:sp>
      <p:sp>
        <p:nvSpPr>
          <p:cNvPr id="13" name="main-message"/>
          <p:cNvSpPr/>
          <p:nvPr/>
        </p:nvSpPr>
        <p:spPr>
          <a:xfrm>
            <a:off x="6172200" y="1600200"/>
            <a:ext cx="5470855" cy="4663440"/>
          </a:xfrm>
          <a:prstGeom prst="roundRect">
            <a:avLst>
              <a:gd name="adj" fmla="val 1176"/>
            </a:avLst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1920240"/>
            <a:ext cx="4739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ГЛАВНОЕ СООБЩЕНИЕ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286000"/>
            <a:ext cx="4739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«Снято честно. Проверено кликом.»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09160"/>
            <a:ext cx="4739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Слоган во всех каналах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Ролик «было / стало» с цифрами CTR из теста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каждом объявлении три слова: готовая, продающая, честная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5 · ПОЗИЦИОНИРОВАНИЕ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Что продаём и почему выбирают нас</a:t>
            </a:r>
            <a:endParaRPr lang="en-US" sz="2800" dirty="0"/>
          </a:p>
        </p:txBody>
      </p:sp>
      <p:sp>
        <p:nvSpPr>
          <p:cNvPr id="4" name="position-1"/>
          <p:cNvSpPr/>
          <p:nvPr/>
        </p:nvSpPr>
        <p:spPr>
          <a:xfrm>
            <a:off x="548640" y="1600200"/>
            <a:ext cx="2602154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83080"/>
            <a:ext cx="2199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ПО АТРИБУТУ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75688"/>
            <a:ext cx="21998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Готовая. Продающая. Честная.</a:t>
            </a:r>
            <a:endParaRPr lang="en-US" sz="1500" dirty="0"/>
          </a:p>
        </p:txBody>
      </p:sp>
      <p:sp>
        <p:nvSpPr>
          <p:cNvPr id="7" name="position-2"/>
          <p:cNvSpPr/>
          <p:nvPr/>
        </p:nvSpPr>
        <p:spPr>
          <a:xfrm>
            <a:off x="3379394" y="1600200"/>
            <a:ext cx="2602154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0562" y="1783080"/>
            <a:ext cx="2199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ПО ПРИМЕНЕНИЮ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580562" y="2075688"/>
            <a:ext cx="21998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Превращает показ в заказ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80562" y="2834640"/>
            <a:ext cx="219981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работает на маркетплейсе как витрина и продавец: показ в поиске → клик → корзина → заказ.</a:t>
            </a:r>
            <a:endParaRPr lang="en-US" sz="1150" dirty="0"/>
          </a:p>
        </p:txBody>
      </p:sp>
      <p:sp>
        <p:nvSpPr>
          <p:cNvPr id="11" name="position-3"/>
          <p:cNvSpPr/>
          <p:nvPr/>
        </p:nvSpPr>
        <p:spPr>
          <a:xfrm>
            <a:off x="6210148" y="1600200"/>
            <a:ext cx="2602154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1316" y="1783080"/>
            <a:ext cx="2199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ПО КАТЕГОРИИ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11316" y="2075688"/>
            <a:ext cx="21998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Контент для маркетплейсов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1316" y="2834640"/>
            <a:ext cx="219981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Фото, инфографика и SEO-текст карточки в одном пакете. Это шире фотоуслуги и шире дизайна.</a:t>
            </a:r>
            <a:endParaRPr lang="en-US" sz="1150" dirty="0"/>
          </a:p>
        </p:txBody>
      </p:sp>
      <p:sp>
        <p:nvSpPr>
          <p:cNvPr id="15" name="position-4"/>
          <p:cNvSpPr/>
          <p:nvPr/>
        </p:nvSpPr>
        <p:spPr>
          <a:xfrm>
            <a:off x="9040901" y="1600200"/>
            <a:ext cx="2602154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42069" y="1783080"/>
            <a:ext cx="2199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ПО ПОТРЕБИТЕЛЮ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242069" y="2075688"/>
            <a:ext cx="21998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Продавцы со своим товаром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242069" y="2834640"/>
            <a:ext cx="219981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Мастера, мини-производства, местные магазины и начинающие продавцы с 5–80 артикулами.</a:t>
            </a:r>
            <a:endParaRPr lang="en-US" sz="1150" dirty="0"/>
          </a:p>
        </p:txBody>
      </p:sp>
      <p:sp>
        <p:nvSpPr>
          <p:cNvPr id="19" name="position-5"/>
          <p:cNvSpPr/>
          <p:nvPr/>
        </p:nvSpPr>
        <p:spPr>
          <a:xfrm>
            <a:off x="548640" y="4041648"/>
            <a:ext cx="3545738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4224528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ПО БЛАГУ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4517136"/>
            <a:ext cx="31434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Больше заказов, меньше возвратов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5276088"/>
            <a:ext cx="314340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приносит клики и заказы, реже возвращается с пометкой «не соответствует фото», а продавцу не нужно искать фотографа, дизайнера и копирайтера.</a:t>
            </a:r>
            <a:endParaRPr lang="en-US" sz="1150" dirty="0"/>
          </a:p>
        </p:txBody>
      </p:sp>
      <p:sp>
        <p:nvSpPr>
          <p:cNvPr id="23" name="position-6"/>
          <p:cNvSpPr/>
          <p:nvPr/>
        </p:nvSpPr>
        <p:spPr>
          <a:xfrm>
            <a:off x="4322978" y="4041648"/>
            <a:ext cx="3545738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4146" y="4224528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ПО ПРЕИМУЩЕСТВУ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24146" y="4517136"/>
            <a:ext cx="31434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Обложка, проверенная тестом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524146" y="5276088"/>
            <a:ext cx="314340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Снимаем только реальный товар, делаем две обложки и оставляем ту, что набрала больше кликов в A/B-тесте.</a:t>
            </a:r>
            <a:endParaRPr lang="en-US" sz="1150" dirty="0"/>
          </a:p>
        </p:txBody>
      </p:sp>
      <p:sp>
        <p:nvSpPr>
          <p:cNvPr id="27" name="position-7"/>
          <p:cNvSpPr/>
          <p:nvPr/>
        </p:nvSpPr>
        <p:spPr>
          <a:xfrm>
            <a:off x="8097317" y="4041648"/>
            <a:ext cx="3545738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8485" y="4224528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ПО КОНКУРЕНТУ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298485" y="4517136"/>
            <a:ext cx="31434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Честнее ИИ, полнее студии, надёжнее частника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298485" y="5276088"/>
            <a:ext cx="314340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подменяет товар, студия часто сдаёт только фото, частник работает без договора. Мы снимаем реальный товар, собираем карточку целиком и проверяем обложку.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6 · СЛОГАН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58521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«Снято честно. Проверено кликом.»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12280" y="1417320"/>
            <a:ext cx="4830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12280" y="1828800"/>
            <a:ext cx="483077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12280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60920" y="1965960"/>
            <a:ext cx="4282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фразы — два наших отличия: реальный товар и обложка, проверенная тестом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12280" y="2697480"/>
            <a:ext cx="483077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834640"/>
            <a:ext cx="4282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«Клик» — слово из мира продавца: CTR, кликабельность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12280" y="3566160"/>
            <a:ext cx="483077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12280" y="37307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3703320"/>
            <a:ext cx="4282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Ритм «два слова + два слова» легко запомнить и повторить</a:t>
            </a:r>
            <a:endParaRPr lang="en-US" sz="1500" dirty="0"/>
          </a:p>
        </p:txBody>
      </p:sp>
      <p:sp>
        <p:nvSpPr>
          <p:cNvPr id="14" name="tagline"/>
          <p:cNvSpPr/>
          <p:nvPr/>
        </p:nvSpPr>
        <p:spPr>
          <a:xfrm>
            <a:off x="6812280" y="4663440"/>
            <a:ext cx="4830775" cy="123444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880" y="4846320"/>
            <a:ext cx="4373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К УСЛУГЕ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5138928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«От вещи до карточки»</a:t>
            </a:r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описывает весь путь товара. Используем под логотипом и в объявлениях вместе со слоганом.</a:t>
            </a:r>
            <a:endParaRPr lang="en-US" sz="125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7 · ЛОГОТИП · КОНЦЕПЦИЯ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Буква Ф в фокусе</a:t>
            </a:r>
            <a:endParaRPr lang="en-US" sz="2800" dirty="0"/>
          </a:p>
        </p:txBody>
      </p:sp>
      <p:sp>
        <p:nvSpPr>
          <p:cNvPr id="4" name="logo-hero"/>
          <p:cNvSpPr/>
          <p:nvPr/>
        </p:nvSpPr>
        <p:spPr>
          <a:xfrm>
            <a:off x="548640" y="1600200"/>
            <a:ext cx="5394960" cy="27432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5" name="Image 0" descr="Логотип ФОТОКОРПУ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78582"/>
            <a:ext cx="4480560" cy="586436"/>
          </a:xfrm>
          <a:prstGeom prst="rect">
            <a:avLst/>
          </a:prstGeom>
        </p:spPr>
      </p:pic>
      <p:sp>
        <p:nvSpPr>
          <p:cNvPr id="6" name="construction"/>
          <p:cNvSpPr/>
          <p:nvPr/>
        </p:nvSpPr>
        <p:spPr>
          <a:xfrm>
            <a:off x="6172200" y="1600200"/>
            <a:ext cx="5470855" cy="27432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7" name="Image 1" descr="Построение логотипа: высота букв и базовая лини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74520"/>
            <a:ext cx="5013655" cy="10567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0" y="3068414"/>
            <a:ext cx="5013655" cy="1092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Знак — первая буква названия, взятая из того же шрифта. Рамка лишь немного выше букв, поэтому знак не выпадает из слова и логотип читается «ФОТОКОРПУС».</a:t>
            </a:r>
            <a:endParaRPr lang="en-US" sz="1250" dirty="0"/>
          </a:p>
        </p:txBody>
      </p:sp>
      <p:sp>
        <p:nvSpPr>
          <p:cNvPr id="9" name="logo-part-1"/>
          <p:cNvSpPr/>
          <p:nvPr/>
        </p:nvSpPr>
        <p:spPr>
          <a:xfrm>
            <a:off x="548640" y="4572000"/>
            <a:ext cx="3545738" cy="169164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0" name="Image 2" descr="Рамка фокус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846320"/>
            <a:ext cx="640080" cy="48396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4800600"/>
            <a:ext cx="23112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Рамка фокуса 4:3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 камера показывает, что в фокусе: реальный товар. Кадр 4:3, повёрнутый на 90°, — формат карточки 3:4.</a:t>
            </a:r>
            <a:endParaRPr lang="en-US" sz="1350" dirty="0"/>
          </a:p>
        </p:txBody>
      </p:sp>
      <p:sp>
        <p:nvSpPr>
          <p:cNvPr id="12" name="logo-part-2"/>
          <p:cNvSpPr/>
          <p:nvPr/>
        </p:nvSpPr>
        <p:spPr>
          <a:xfrm>
            <a:off x="4322978" y="4572000"/>
            <a:ext cx="3545738" cy="169164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3" name="Image 3" descr="Буква 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5586" y="4818888"/>
            <a:ext cx="512064" cy="40953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74538" y="4800600"/>
            <a:ext cx="23112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 из шрифта названия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буква, что в слове: знак работает и внутри логотипа, и отдельно на аватаре.</a:t>
            </a:r>
            <a:endParaRPr lang="en-US" sz="1350" dirty="0"/>
          </a:p>
        </p:txBody>
      </p:sp>
      <p:sp>
        <p:nvSpPr>
          <p:cNvPr id="15" name="logo-part-3"/>
          <p:cNvSpPr/>
          <p:nvPr/>
        </p:nvSpPr>
        <p:spPr>
          <a:xfrm>
            <a:off x="8097317" y="4572000"/>
            <a:ext cx="3545738" cy="169164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8325917" y="4873752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tx2"/>
          </a:solidFill>
          <a:ln/>
        </p:spPr>
      </p:sp>
      <p:sp>
        <p:nvSpPr>
          <p:cNvPr id="17" name="Shape 11"/>
          <p:cNvSpPr/>
          <p:nvPr/>
        </p:nvSpPr>
        <p:spPr>
          <a:xfrm>
            <a:off x="8664245" y="4873752"/>
            <a:ext cx="292608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9148877" y="4800600"/>
            <a:ext cx="23112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цвета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 графитом, КОРПУС и рамка бордо: видно, из каких двух слов состоит название.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7 · ЛОГОТИП · ВЕРСИИ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Как логотип живёт в носителях</a:t>
            </a:r>
            <a:endParaRPr lang="en-US" sz="2800" dirty="0"/>
          </a:p>
        </p:txBody>
      </p:sp>
      <p:sp>
        <p:nvSpPr>
          <p:cNvPr id="4" name="logo-tile-1"/>
          <p:cNvSpPr/>
          <p:nvPr/>
        </p:nvSpPr>
        <p:spPr>
          <a:xfrm>
            <a:off x="548640" y="160020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5" name="Image 0" descr="Логотип: Основной, светлый фо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421871"/>
            <a:ext cx="2814218" cy="3683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703320"/>
            <a:ext cx="3545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ОСНОВНОЙ, СВЕТЛЫЙ ФОН</a:t>
            </a:r>
            <a:endParaRPr lang="en-US" sz="950" dirty="0"/>
          </a:p>
        </p:txBody>
      </p:sp>
      <p:sp>
        <p:nvSpPr>
          <p:cNvPr id="7" name="logo-tile-2"/>
          <p:cNvSpPr/>
          <p:nvPr/>
        </p:nvSpPr>
        <p:spPr>
          <a:xfrm>
            <a:off x="4322978" y="160020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/>
        </p:spPr>
      </p:sp>
      <p:pic>
        <p:nvPicPr>
          <p:cNvPr id="8" name="Image 1" descr="Логотип: Графитовый фо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2421871"/>
            <a:ext cx="2814218" cy="3683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22978" y="3703320"/>
            <a:ext cx="3545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ГРАФИТОВЫЙ ФОН</a:t>
            </a:r>
            <a:endParaRPr lang="en-US" sz="950" dirty="0"/>
          </a:p>
        </p:txBody>
      </p:sp>
      <p:sp>
        <p:nvSpPr>
          <p:cNvPr id="10" name="logo-tile-3"/>
          <p:cNvSpPr/>
          <p:nvPr/>
        </p:nvSpPr>
        <p:spPr>
          <a:xfrm>
            <a:off x="8097317" y="160020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accent1"/>
          </a:solidFill>
          <a:ln/>
        </p:spPr>
      </p:sp>
      <p:pic>
        <p:nvPicPr>
          <p:cNvPr id="11" name="Image 2" descr="Логотип: Бордо, одноцветны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077" y="2421871"/>
            <a:ext cx="2814218" cy="36833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97317" y="3703320"/>
            <a:ext cx="3545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БОРДО, ОДНОЦВЕТНЫЙ</a:t>
            </a:r>
            <a:endParaRPr lang="en-US" sz="950" dirty="0"/>
          </a:p>
        </p:txBody>
      </p:sp>
      <p:sp>
        <p:nvSpPr>
          <p:cNvPr id="13" name="logo-vertical"/>
          <p:cNvSpPr/>
          <p:nvPr/>
        </p:nvSpPr>
        <p:spPr>
          <a:xfrm>
            <a:off x="548640" y="4069080"/>
            <a:ext cx="2602154" cy="187452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14" name="Image 3" descr="Вертикальный логотип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529090"/>
            <a:ext cx="1687754" cy="954499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48640" y="6035040"/>
            <a:ext cx="2602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ВЕРТИКАЛЬНЫЙ</a:t>
            </a:r>
            <a:endParaRPr lang="en-US" sz="950" dirty="0"/>
          </a:p>
        </p:txBody>
      </p:sp>
      <p:sp>
        <p:nvSpPr>
          <p:cNvPr id="16" name="logo-avatar"/>
          <p:cNvSpPr/>
          <p:nvPr/>
        </p:nvSpPr>
        <p:spPr>
          <a:xfrm>
            <a:off x="3379394" y="4069080"/>
            <a:ext cx="2602154" cy="187452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108971" y="4434840"/>
            <a:ext cx="1143000" cy="11430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Image 4" descr="Аватар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3855" y="4736429"/>
            <a:ext cx="713232" cy="5398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379394" y="6035040"/>
            <a:ext cx="2602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АВАТАР: TELEGRAM, ВК, 2ГИС</a:t>
            </a:r>
            <a:endParaRPr lang="en-US" sz="950" dirty="0"/>
          </a:p>
        </p:txBody>
      </p:sp>
      <p:sp>
        <p:nvSpPr>
          <p:cNvPr id="20" name="logo-sizes"/>
          <p:cNvSpPr/>
          <p:nvPr/>
        </p:nvSpPr>
        <p:spPr>
          <a:xfrm>
            <a:off x="6210148" y="4069080"/>
            <a:ext cx="2602154" cy="187452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21" name="Image 5" descr="Знак 64 p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0188" y="4589209"/>
            <a:ext cx="822960" cy="62287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438748" y="528523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px</a:t>
            </a:r>
            <a:endParaRPr lang="en-US" sz="950" dirty="0"/>
          </a:p>
        </p:txBody>
      </p:sp>
      <p:pic>
        <p:nvPicPr>
          <p:cNvPr id="23" name="Image 6" descr="Знак 3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7468" y="4900645"/>
            <a:ext cx="411480" cy="311435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536028" y="52852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50" dirty="0"/>
          </a:p>
        </p:txBody>
      </p:sp>
      <p:pic>
        <p:nvPicPr>
          <p:cNvPr id="25" name="Image 7" descr="Знак 16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3268" y="5045981"/>
            <a:ext cx="219456" cy="166099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8221828" y="528523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50" dirty="0"/>
          </a:p>
        </p:txBody>
      </p:sp>
      <p:sp>
        <p:nvSpPr>
          <p:cNvPr id="27" name="Text 17"/>
          <p:cNvSpPr txBox="1"/>
          <p:nvPr/>
        </p:nvSpPr>
        <p:spPr>
          <a:xfrm>
            <a:off x="6210148" y="6035040"/>
            <a:ext cx="2602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ЗНАК ОТДЕЛЬНО, МИН. 16 PX</a:t>
            </a:r>
            <a:endParaRPr lang="en-US" sz="950" dirty="0"/>
          </a:p>
        </p:txBody>
      </p:sp>
      <p:sp>
        <p:nvSpPr>
          <p:cNvPr id="28" name="logo-colors"/>
          <p:cNvSpPr/>
          <p:nvPr/>
        </p:nvSpPr>
        <p:spPr>
          <a:xfrm>
            <a:off x="9040901" y="4069080"/>
            <a:ext cx="2602154" cy="187452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9269501" y="4233672"/>
            <a:ext cx="2144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Цвета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9269501" y="4572000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9589541" y="4553712"/>
            <a:ext cx="18706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Бордо #7B1E2E</a:t>
            </a:r>
            <a:endParaRPr lang="en-US" sz="1100" dirty="0"/>
          </a:p>
        </p:txBody>
      </p:sp>
      <p:sp>
        <p:nvSpPr>
          <p:cNvPr id="32" name="Shape 22"/>
          <p:cNvSpPr/>
          <p:nvPr/>
        </p:nvSpPr>
        <p:spPr>
          <a:xfrm>
            <a:off x="9269501" y="4864608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9589541" y="4846320"/>
            <a:ext cx="18706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Графит #25272B</a:t>
            </a:r>
            <a:endParaRPr lang="en-US" sz="1100" dirty="0"/>
          </a:p>
        </p:txBody>
      </p:sp>
      <p:sp>
        <p:nvSpPr>
          <p:cNvPr id="34" name="Shape 24"/>
          <p:cNvSpPr/>
          <p:nvPr/>
        </p:nvSpPr>
        <p:spPr>
          <a:xfrm>
            <a:off x="9269501" y="5157216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9589541" y="5138928"/>
            <a:ext cx="18706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Светлый #F7F6F4</a:t>
            </a:r>
            <a:endParaRPr lang="en-US" sz="1100" dirty="0"/>
          </a:p>
        </p:txBody>
      </p:sp>
      <p:sp>
        <p:nvSpPr>
          <p:cNvPr id="36" name="Text 26"/>
          <p:cNvSpPr txBox="1"/>
          <p:nvPr/>
        </p:nvSpPr>
        <p:spPr>
          <a:xfrm>
            <a:off x="9269501" y="5440680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Охранное поле вокруг логотипа — не меньше высоты буквы.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Фотокорпус">
  <a:themeElements>
    <a:clrScheme name="Фотокорпус">
      <a:dk1>
        <a:srgbClr val="232528"/>
      </a:dk1>
      <a:lt1>
        <a:srgbClr val="FFFFFF"/>
      </a:lt1>
      <a:dk2>
        <a:srgbClr val="25272B"/>
      </a:dk2>
      <a:lt2>
        <a:srgbClr val="F7F6F4"/>
      </a:lt2>
      <a:accent1>
        <a:srgbClr val="7B1E2E"/>
      </a:accent1>
      <a:accent2>
        <a:srgbClr val="D9707F"/>
      </a:accent2>
      <a:accent3>
        <a:srgbClr val="5D6066"/>
      </a:accent3>
      <a:accent4>
        <a:srgbClr val="D8D5D2"/>
      </a:accent4>
      <a:accent5>
        <a:srgbClr val="F3E6E8"/>
      </a:accent5>
      <a:accent6>
        <a:srgbClr val="31343A"/>
      </a:accent6>
      <a:hlink>
        <a:srgbClr val="7B1E2E"/>
      </a:hlink>
      <a:folHlink>
        <a:srgbClr val="5D6066"/>
      </a:folHlink>
    </a:clrScheme>
    <a:fontScheme name="Фотокорпус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ФОТОКОРПУС — концепция бренда</dc:title>
  <dc:subject>PptxGenJS Presentation</dc:subject>
  <dc:creator>PptxGenJS</dc:creator>
  <cp:lastModifiedBy>PptxGenJS</cp:lastModifiedBy>
  <cp:revision>1</cp:revision>
  <dcterms:created xsi:type="dcterms:W3CDTF">2026-10-26T13:35:56Z</dcterms:created>
  <dcterms:modified xsi:type="dcterms:W3CDTF">2026-10-26T13:35:56Z</dcterms:modified>
</cp:coreProperties>
</file>