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43800794-4756-fb28-5ab3-8753b66148f2}">
          <p14:sldIdLst>
            <p14:sldId id="256"/>
          </p14:sldIdLst>
        </p14:section>
        <p14:section name="Бизнес-модель" id="{b2d0d071-8aac-028c-58a6-668c16fb4462}">
          <p14:sldIdLst>
            <p14:sldId id="257"/>
            <p14:sldId id="258"/>
            <p14:sldId id="259"/>
            <p14:sldId id="260"/>
          </p14:sldIdLst>
        </p14:section>
        <p14:section name="Позиционирование" id="{00b6181f-c819-5b80-9b8f-594844531182}">
          <p14:sldIdLst>
            <p14:sldId id="261"/>
          </p14:sldIdLst>
        </p14:section>
        <p14:section name="Айдентика" id="{bf336e4b-f841-0073-0a51-019ee997f684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ёмный титул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5.png"/><Relationship Id="rId7" Type="http://schemas.openxmlformats.org/officeDocument/2006/relationships/image" Target="../media/image-8-5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БРЕНДА</a:t>
            </a:r>
            <a:endParaRPr lang="en-US" sz="1100" dirty="0"/>
          </a:p>
        </p:txBody>
      </p:sp>
      <p:pic>
        <p:nvPicPr>
          <p:cNvPr id="3" name="Image 0" descr="Логотип ФОТОКОРПУ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234440"/>
            <a:ext cx="7132320" cy="9335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Фотостудия и «фабрика карточек» для продавцов маркетплейсов со своим товаром. Зеленоград.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«Снято честно. Проверено кликом.»</a:t>
            </a:r>
            <a:endParaRPr lang="en-US" sz="2200" dirty="0"/>
          </a:p>
        </p:txBody>
      </p:sp>
      <p:sp>
        <p:nvSpPr>
          <p:cNvPr id="6" name="title-card-1"/>
          <p:cNvSpPr/>
          <p:nvPr/>
        </p:nvSpPr>
        <p:spPr>
          <a:xfrm>
            <a:off x="548640" y="4663440"/>
            <a:ext cx="3545738" cy="141732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86460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продаём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2120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Карточку товара для Wildberries и Ozon: фото, инфографика и текст в одном пакете.</a:t>
            </a:r>
            <a:endParaRPr lang="en-US" sz="1300" dirty="0"/>
          </a:p>
        </p:txBody>
      </p:sp>
      <p:sp>
        <p:nvSpPr>
          <p:cNvPr id="9" name="title-card-2"/>
          <p:cNvSpPr/>
          <p:nvPr/>
        </p:nvSpPr>
        <p:spPr>
          <a:xfrm>
            <a:off x="4322978" y="4663440"/>
            <a:ext cx="3545738" cy="141732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51578" y="486460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карточка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51578" y="5285232"/>
            <a:ext cx="96012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51578" y="52852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Готовая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21426" y="5285232"/>
            <a:ext cx="123444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21426" y="52852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Продающая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65594" y="5285232"/>
            <a:ext cx="960120" cy="34747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65594" y="52852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</a:t>
            </a:r>
            <a:endParaRPr lang="en-US" sz="1200" dirty="0"/>
          </a:p>
        </p:txBody>
      </p:sp>
      <p:sp>
        <p:nvSpPr>
          <p:cNvPr id="17" name="title-card-3"/>
          <p:cNvSpPr/>
          <p:nvPr/>
        </p:nvSpPr>
        <p:spPr>
          <a:xfrm>
            <a:off x="8097317" y="4663440"/>
            <a:ext cx="3545738" cy="141732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25917" y="486460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Территория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325917" y="521208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Зеленоград (ЗелАО, Москва). Снимаем в городе, образцы отдаём сразу после съёмки.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1 · ПРОИЗВОДСТВЕННЫЙ ПРОЦЕСС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 коробки до карточки за 48 часов</a:t>
            </a:r>
            <a:endParaRPr lang="en-US" sz="2800" dirty="0"/>
          </a:p>
        </p:txBody>
      </p:sp>
      <p:sp>
        <p:nvSpPr>
          <p:cNvPr id="4" name="step-1"/>
          <p:cNvSpPr/>
          <p:nvPr/>
        </p:nvSpPr>
        <p:spPr>
          <a:xfrm>
            <a:off x="548640" y="160020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Бриф и разбор выдачи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Онлайн, 10 минут: категория, площадка, референсы. Смотрим топ выдачи по запросу клиента и находим, чем выделиться.</a:t>
            </a:r>
            <a:endParaRPr lang="en-US" sz="1400" dirty="0"/>
          </a:p>
        </p:txBody>
      </p:sp>
      <p:sp>
        <p:nvSpPr>
          <p:cNvPr id="7" name="step-2"/>
          <p:cNvSpPr/>
          <p:nvPr/>
        </p:nvSpPr>
        <p:spPr>
          <a:xfrm>
            <a:off x="4322978" y="160020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1578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51578" y="237744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товара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приёма образцов, маркировка, проверка состояния, список кадров.</a:t>
            </a:r>
            <a:endParaRPr lang="en-US" sz="1400" dirty="0"/>
          </a:p>
        </p:txBody>
      </p:sp>
      <p:sp>
        <p:nvSpPr>
          <p:cNvPr id="10" name="step-3"/>
          <p:cNvSpPr/>
          <p:nvPr/>
        </p:nvSpPr>
        <p:spPr>
          <a:xfrm>
            <a:off x="8097317" y="160020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5917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325917" y="237744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Съёмка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реальный товар: белый фон, сцены, детали, масштаб. Свет по типу товара. Образцы отдаём в тот же день.</a:t>
            </a:r>
            <a:endParaRPr lang="en-US" sz="1400" dirty="0"/>
          </a:p>
        </p:txBody>
      </p:sp>
      <p:sp>
        <p:nvSpPr>
          <p:cNvPr id="13" name="step-4"/>
          <p:cNvSpPr/>
          <p:nvPr/>
        </p:nvSpPr>
        <p:spPr>
          <a:xfrm>
            <a:off x="548640" y="384048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как в жизни, ретушь, фон. Формат 3:4, от 900×1200 px. ИИ только для фона, сам товар не меняем.</a:t>
            </a:r>
            <a:endParaRPr lang="en-US" sz="1400" dirty="0"/>
          </a:p>
        </p:txBody>
      </p:sp>
      <p:sp>
        <p:nvSpPr>
          <p:cNvPr id="16" name="step-5"/>
          <p:cNvSpPr/>
          <p:nvPr/>
        </p:nvSpPr>
        <p:spPr>
          <a:xfrm>
            <a:off x="4322978" y="384048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1578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51578" y="461772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Инфографика и текст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обложки, слайды с преимуществами и размерами, название, описание, характеристики, ключевые слова.</a:t>
            </a:r>
            <a:endParaRPr lang="en-US" sz="1400" dirty="0"/>
          </a:p>
        </p:txBody>
      </p:sp>
      <p:sp>
        <p:nvSpPr>
          <p:cNvPr id="19" name="step-6"/>
          <p:cNvSpPr/>
          <p:nvPr/>
        </p:nvSpPr>
        <p:spPr>
          <a:xfrm>
            <a:off x="8097317" y="3840480"/>
            <a:ext cx="3545738" cy="201168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5917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325917" y="4617720"/>
            <a:ext cx="308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Сдача и тест обложки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готова за 48 часов, две правки включены. Затем A/B-тест двух обложек, оставляем ту, у которой выше CTR.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WB до 30 фото в карточке, на Ozon до 15, на главном фото Ozon без инфографики. Тест обложки — в кабинете WB, для Ozon — внешние сервисы.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2 · ЦЕЛЕВАЯ АУДИТОРИЯ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Продавцы со своим товаром: 5–80 артикулов</a:t>
            </a:r>
            <a:endParaRPr lang="en-US" sz="2800" dirty="0"/>
          </a:p>
        </p:txBody>
      </p:sp>
      <p:sp>
        <p:nvSpPr>
          <p:cNvPr id="4" name="segment-1"/>
          <p:cNvSpPr/>
          <p:nvPr/>
        </p:nvSpPr>
        <p:spPr>
          <a:xfrm>
            <a:off x="548640" y="1600200"/>
            <a:ext cx="3545738" cy="3108960"/>
          </a:xfrm>
          <a:prstGeom prst="roundRect">
            <a:avLst>
              <a:gd name="adj" fmla="val 176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Мастера и мини-производства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рукодельники, мастерские, небольшие цеха.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Продают: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мыло, свечи, керамику, текстиль, украшения.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703320"/>
            <a:ext cx="308853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81304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 уникальный, фото от поставщика нет, нужен честный кадр.</a:t>
            </a:r>
            <a:endParaRPr lang="en-US" sz="1250" dirty="0"/>
          </a:p>
        </p:txBody>
      </p:sp>
      <p:sp>
        <p:nvSpPr>
          <p:cNvPr id="9" name="segment-2"/>
          <p:cNvSpPr/>
          <p:nvPr/>
        </p:nvSpPr>
        <p:spPr>
          <a:xfrm>
            <a:off x="4322978" y="1600200"/>
            <a:ext cx="3545738" cy="3108960"/>
          </a:xfrm>
          <a:prstGeom prst="roundRect">
            <a:avLst>
              <a:gd name="adj" fmla="val 176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1578" y="1801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Местные магазины и бренды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1578" y="224028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офлайн-точки и салоны Зеленограда, которые выходят на маркетплейсы.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Продают: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одежду, подарки, зоотовары, товары для дома.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51578" y="3703320"/>
            <a:ext cx="308853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1578" y="381304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ассортимент есть, контента и опыта нет.</a:t>
            </a:r>
            <a:endParaRPr lang="en-US" sz="1250" dirty="0"/>
          </a:p>
        </p:txBody>
      </p:sp>
      <p:sp>
        <p:nvSpPr>
          <p:cNvPr id="14" name="segment-3"/>
          <p:cNvSpPr/>
          <p:nvPr/>
        </p:nvSpPr>
        <p:spPr>
          <a:xfrm>
            <a:off x="8097317" y="1600200"/>
            <a:ext cx="3545738" cy="3108960"/>
          </a:xfrm>
          <a:prstGeom prst="roundRect">
            <a:avLst>
              <a:gd name="adj" fmla="val 176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5917" y="1801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Начинающие продавцы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5917" y="224028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выходят на маркетплейс: товар есть, а оборудования, опыта и навыков дизайна нет.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Продают: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артикулы: аксессуары, косметику, товары для дома.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25917" y="3703320"/>
            <a:ext cx="308853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5917" y="3813048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получают карточку, которая с первого раза проходит требования WB и Ozon.</a:t>
            </a:r>
            <a:endParaRPr lang="en-US" sz="1250" dirty="0"/>
          </a:p>
        </p:txBody>
      </p:sp>
      <p:sp>
        <p:nvSpPr>
          <p:cNvPr id="19" name="pains"/>
          <p:cNvSpPr/>
          <p:nvPr/>
        </p:nvSpPr>
        <p:spPr>
          <a:xfrm>
            <a:off x="548640" y="4937760"/>
            <a:ext cx="11094415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166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Боли клиента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33472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Карточку видят, но не кликают: низкий CTR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4571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59163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Возвраты и отзывы «не соответствует фото»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0262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84854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времени искать фотографа, дизайнера и копирайтера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45953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10545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Непонятны требования WB и Ozon к фото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71644" y="5230368"/>
            <a:ext cx="82296" cy="822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36236" y="5157216"/>
            <a:ext cx="1478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Заплатил за съёмку, а продаёт ли она, неизвестно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3 · КОНКУРЕНЦИЯ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Кто решает ту же задачу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651760"/>
                <a:gridCol w="3154680"/>
                <a:gridCol w="23161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Конкурент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Сильные стороны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Слабые стороны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Наш ответ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Студии для маркетплейсов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Пиксель Плюс, Daily Studio, Кариба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готовая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Опыт, оборудование, серийная съёмка; от 1 000 ₽ за артикул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Часто сдают только фото; продаёт ли карточка, не проверяют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целиком и тест обложки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Частные фотографы и аренда залов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Профи.ру, Авито, Vibes Studio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готовая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Рядом, дёшево: от 1 000 ₽ в час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стандарта и договора; ретушь и карточка на продавце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Стандарт, договор, две правки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Съёмка от площадок и фулфилмента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продающая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Удобно рядом со складом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Шаблонно, поверхностная карточка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Обложка под выдачу клиента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ИИ-съёмка и генерация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честная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Дёшево и быстро; студии обещают рост CTR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Товар «плывёт»; WB отклоняет сгенерированный товар и тестирует метку «Похоже на ИИ»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Реальный товар; ИИ только для фона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Фрилансеры-карточечники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не готовая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 и инфографика; под ключ от 16 900 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съёмки, фото берут у клиента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исполнитель на весь цикл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t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Зеленограде уже есть студии, залы и фотографы, поэтому близость не преимущество: мы отличаемся проверенным результатом. Красная пометка — какого из трёх свойств нашей карточки не хватает конкуренту.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4 · РЕКЛАМА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Идём туда, где сидят наши продавцы</a:t>
            </a:r>
            <a:endParaRPr lang="en-US" sz="2800" dirty="0"/>
          </a:p>
        </p:txBody>
      </p:sp>
      <p:sp>
        <p:nvSpPr>
          <p:cNvPr id="4" name="channel-1"/>
          <p:cNvSpPr/>
          <p:nvPr/>
        </p:nvSpPr>
        <p:spPr>
          <a:xfrm>
            <a:off x="548640" y="1600200"/>
            <a:ext cx="5394960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каналы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49377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 Зеленограда (ВК, Telegram), группы продавцов WB и Ozon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Объявления в коворкингах, у ПВЗ и точек доставки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с фулфилментами</a:t>
            </a:r>
            <a:endParaRPr lang="en-US" sz="1200" dirty="0"/>
          </a:p>
        </p:txBody>
      </p:sp>
      <p:sp>
        <p:nvSpPr>
          <p:cNvPr id="7" name="channel-2"/>
          <p:cNvSpPr/>
          <p:nvPr/>
        </p:nvSpPr>
        <p:spPr>
          <a:xfrm>
            <a:off x="548640" y="3221736"/>
            <a:ext cx="5394960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77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реклама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78936"/>
            <a:ext cx="49377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Директ и Карты: «фото для маркетплейсов Зеленоград»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в 2ГИС и Яндекс Картах с отзывами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Telegram-канал с разборами «до / после»</a:t>
            </a:r>
            <a:endParaRPr lang="en-US" sz="1200" dirty="0"/>
          </a:p>
        </p:txBody>
      </p:sp>
      <p:sp>
        <p:nvSpPr>
          <p:cNvPr id="10" name="channel-3"/>
          <p:cNvSpPr/>
          <p:nvPr/>
        </p:nvSpPr>
        <p:spPr>
          <a:xfrm>
            <a:off x="548640" y="4843272"/>
            <a:ext cx="5394960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998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Доверие и промо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300472"/>
            <a:ext cx="49377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съёмка одного артикула со скидкой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Бесплатный разбор чужой карточки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A/B-тестов обложек (с согласия клиентов)</a:t>
            </a:r>
            <a:endParaRPr lang="en-US" sz="1200" dirty="0"/>
          </a:p>
        </p:txBody>
      </p:sp>
      <p:sp>
        <p:nvSpPr>
          <p:cNvPr id="13" name="main-message"/>
          <p:cNvSpPr/>
          <p:nvPr/>
        </p:nvSpPr>
        <p:spPr>
          <a:xfrm>
            <a:off x="6172200" y="1600200"/>
            <a:ext cx="5470855" cy="4663440"/>
          </a:xfrm>
          <a:prstGeom prst="roundRect">
            <a:avLst>
              <a:gd name="adj" fmla="val 1176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1920240"/>
            <a:ext cx="47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СООБЩЕНИЕ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286000"/>
            <a:ext cx="4739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«Снято честно. Проверено кликом.»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709160"/>
            <a:ext cx="4739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Слоган во всех каналах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Ролик «было / стало» с цифрами CTR из теста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каждом объявлении три слова: готовая, продающая, честная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5 · ПОЗИЦИОНИРОВАНИЕ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продаём и почему выбирают нас</a:t>
            </a:r>
            <a:endParaRPr lang="en-US" sz="2800" dirty="0"/>
          </a:p>
        </p:txBody>
      </p:sp>
      <p:sp>
        <p:nvSpPr>
          <p:cNvPr id="4" name="position-1"/>
          <p:cNvSpPr/>
          <p:nvPr/>
        </p:nvSpPr>
        <p:spPr>
          <a:xfrm>
            <a:off x="548640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ПО АТРИБУТУ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Готовая, продающая и честная карточка товара</a:t>
            </a:r>
            <a:endParaRPr lang="en-US" sz="1500" dirty="0"/>
          </a:p>
        </p:txBody>
      </p:sp>
      <p:sp>
        <p:nvSpPr>
          <p:cNvPr id="7" name="position-2"/>
          <p:cNvSpPr/>
          <p:nvPr/>
        </p:nvSpPr>
        <p:spPr>
          <a:xfrm>
            <a:off x="3379394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0562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ПО ПРИМЕНЕНИЮ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580562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Превращает показ в заказ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80562" y="2834640"/>
            <a:ext cx="21998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работает на маркетплейсе как витрина и продавец: показ в поиске → клик → корзина → заказ.</a:t>
            </a:r>
            <a:endParaRPr lang="en-US" sz="1150" dirty="0"/>
          </a:p>
        </p:txBody>
      </p:sp>
      <p:sp>
        <p:nvSpPr>
          <p:cNvPr id="11" name="position-3"/>
          <p:cNvSpPr/>
          <p:nvPr/>
        </p:nvSpPr>
        <p:spPr>
          <a:xfrm>
            <a:off x="6210148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1316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ПО КАТЕГОРИИ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11316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Контент для маркетплейсов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11316" y="2834640"/>
            <a:ext cx="21998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Фото, инфографика и SEO-текст карточки в одном пакете. Это шире фотоуслуги и шире дизайна.</a:t>
            </a:r>
            <a:endParaRPr lang="en-US" sz="1150" dirty="0"/>
          </a:p>
        </p:txBody>
      </p:sp>
      <p:sp>
        <p:nvSpPr>
          <p:cNvPr id="15" name="position-4"/>
          <p:cNvSpPr/>
          <p:nvPr/>
        </p:nvSpPr>
        <p:spPr>
          <a:xfrm>
            <a:off x="9040901" y="1600200"/>
            <a:ext cx="2602154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2069" y="1783080"/>
            <a:ext cx="2199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ПО ПОТРЕБИТЕЛЮ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242069" y="2075688"/>
            <a:ext cx="2199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Продавцы со своим товаром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42069" y="2834640"/>
            <a:ext cx="21998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Мастера, мини-производства, местные магазины и начинающие продавцы с 5–80 артикулами.</a:t>
            </a:r>
            <a:endParaRPr lang="en-US" sz="1150" dirty="0"/>
          </a:p>
        </p:txBody>
      </p:sp>
      <p:sp>
        <p:nvSpPr>
          <p:cNvPr id="19" name="position-5"/>
          <p:cNvSpPr/>
          <p:nvPr/>
        </p:nvSpPr>
        <p:spPr>
          <a:xfrm>
            <a:off x="548640" y="4041648"/>
            <a:ext cx="3545738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22452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ПО БЛАГУ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517136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Больше заказов, меньше возвратов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276088"/>
            <a:ext cx="31434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приносит клики и заказы, реже возвращается с пометкой «не соответствует фото», а продавцу не нужно искать фотографа, дизайнера и копирайтера.</a:t>
            </a:r>
            <a:endParaRPr lang="en-US" sz="1150" dirty="0"/>
          </a:p>
        </p:txBody>
      </p:sp>
      <p:sp>
        <p:nvSpPr>
          <p:cNvPr id="23" name="position-6"/>
          <p:cNvSpPr/>
          <p:nvPr/>
        </p:nvSpPr>
        <p:spPr>
          <a:xfrm>
            <a:off x="4322978" y="4041648"/>
            <a:ext cx="3545738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4146" y="422452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ПО ПРЕИМУЩЕСТВУ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24146" y="4517136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Обложка, проверенная тестом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24146" y="5276088"/>
            <a:ext cx="31434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Снимаем только реальный товар, делаем две обложки и оставляем ту, что набрала больше кликов в A/B-тесте.</a:t>
            </a:r>
            <a:endParaRPr lang="en-US" sz="1150" dirty="0"/>
          </a:p>
        </p:txBody>
      </p:sp>
      <p:sp>
        <p:nvSpPr>
          <p:cNvPr id="27" name="position-7"/>
          <p:cNvSpPr/>
          <p:nvPr/>
        </p:nvSpPr>
        <p:spPr>
          <a:xfrm>
            <a:off x="8097317" y="4041648"/>
            <a:ext cx="3545738" cy="2212848"/>
          </a:xfrm>
          <a:prstGeom prst="roundRect">
            <a:avLst>
              <a:gd name="adj" fmla="val 247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8485" y="4224528"/>
            <a:ext cx="314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ПО КОНКУРЕНТУ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298485" y="4517136"/>
            <a:ext cx="31434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Честнее ИИ, полнее студии, надёжнее частника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98485" y="5276088"/>
            <a:ext cx="314340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подменяет товар, студия часто сдаёт только фото, частник работает без договора. Мы снимаем реальный товар, собираем карточку целиком и проверяем обложку.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6 · СЛОГАНЫ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Фраза к каждому пункту позиционирования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66406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237744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ПО АТРИБУТУ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600200"/>
            <a:ext cx="676656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«Готовая. Продающая. Честная.»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932611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66406"/>
            <a:ext cx="237744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ПО ПРИМЕНЕНИЮ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266406"/>
            <a:ext cx="676656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«Из показа — в заказ»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598817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32611"/>
            <a:ext cx="237744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ПО КАТЕГОРИИ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932611"/>
            <a:ext cx="676656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«Не просто фото, а вся карточка»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265023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598817"/>
            <a:ext cx="237744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ПО ПОТРЕБИТЕЛЮ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3598817"/>
            <a:ext cx="676656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«Для тех, кто продаёт своё»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931229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65023"/>
            <a:ext cx="237744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ПО БЛАГУ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4265023"/>
            <a:ext cx="676656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«Заказы вместо возвратов»</a:t>
            </a:r>
            <a:endParaRPr lang="en-US" sz="2000" dirty="0"/>
          </a:p>
        </p:txBody>
      </p:sp>
      <p:sp>
        <p:nvSpPr>
          <p:cNvPr id="20" name="main-slogan"/>
          <p:cNvSpPr/>
          <p:nvPr/>
        </p:nvSpPr>
        <p:spPr>
          <a:xfrm>
            <a:off x="548640" y="4949517"/>
            <a:ext cx="11094415" cy="629630"/>
          </a:xfrm>
          <a:prstGeom prst="roundRect">
            <a:avLst>
              <a:gd name="adj" fmla="val 8714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931229"/>
            <a:ext cx="237744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ПО ПРЕИМУЩЕСТВУ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931229"/>
            <a:ext cx="676656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«Снято честно. Проверено кликом.»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317175" y="5108883"/>
            <a:ext cx="1143000" cy="310896"/>
          </a:xfrm>
          <a:prstGeom prst="roundRect">
            <a:avLst>
              <a:gd name="adj" fmla="val 50000"/>
            </a:avLst>
          </a:prstGeom>
          <a:ln w="9525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17175" y="5108883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597434"/>
            <a:ext cx="237744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ПО КОНКУРЕНТУ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5597434"/>
            <a:ext cx="676656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«Честнее ИИ. Полнее студии.»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7 · ЛОГОТИП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Буква Ф в фокусе</a:t>
            </a:r>
            <a:endParaRPr lang="en-US" sz="2800" dirty="0"/>
          </a:p>
        </p:txBody>
      </p:sp>
      <p:sp>
        <p:nvSpPr>
          <p:cNvPr id="4" name="logo-main"/>
          <p:cNvSpPr/>
          <p:nvPr/>
        </p:nvSpPr>
        <p:spPr>
          <a:xfrm>
            <a:off x="548640" y="1600200"/>
            <a:ext cx="6812280" cy="4663440"/>
          </a:xfrm>
          <a:prstGeom prst="roundRect">
            <a:avLst>
              <a:gd name="adj" fmla="val 117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Image 0" descr="Логотип ФОТОКОРПУ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375037"/>
            <a:ext cx="5715000" cy="7480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5806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 из шрифта названия в рамке фокуса 4:3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83480" y="5843016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230368" y="5806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#7B1E2E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5843016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27648" y="5806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#25272B</a:t>
            </a:r>
            <a:endParaRPr lang="en-US" sz="1050" dirty="0"/>
          </a:p>
        </p:txBody>
      </p:sp>
      <p:sp>
        <p:nvSpPr>
          <p:cNvPr id="11" name="logo-lk_dark"/>
          <p:cNvSpPr/>
          <p:nvPr/>
        </p:nvSpPr>
        <p:spPr>
          <a:xfrm>
            <a:off x="7589520" y="1600200"/>
            <a:ext cx="4053535" cy="1420368"/>
          </a:xfrm>
          <a:prstGeom prst="roundRect">
            <a:avLst>
              <a:gd name="adj" fmla="val 3863"/>
            </a:avLst>
          </a:prstGeom>
          <a:solidFill>
            <a:schemeClr val="tx2"/>
          </a:solidFill>
          <a:ln/>
        </p:spPr>
      </p:sp>
      <p:pic>
        <p:nvPicPr>
          <p:cNvPr id="12" name="Image 1" descr="Логотип на цветном фон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104952"/>
            <a:ext cx="3139135" cy="410865"/>
          </a:xfrm>
          <a:prstGeom prst="rect">
            <a:avLst/>
          </a:prstGeom>
        </p:spPr>
      </p:pic>
      <p:sp>
        <p:nvSpPr>
          <p:cNvPr id="13" name="logo-lk_white"/>
          <p:cNvSpPr/>
          <p:nvPr/>
        </p:nvSpPr>
        <p:spPr>
          <a:xfrm>
            <a:off x="7589520" y="3221736"/>
            <a:ext cx="4053535" cy="1420368"/>
          </a:xfrm>
          <a:prstGeom prst="roundRect">
            <a:avLst>
              <a:gd name="adj" fmla="val 3863"/>
            </a:avLst>
          </a:prstGeom>
          <a:solidFill>
            <a:schemeClr val="accent1"/>
          </a:solidFill>
          <a:ln/>
        </p:spPr>
      </p:sp>
      <p:pic>
        <p:nvPicPr>
          <p:cNvPr id="14" name="Image 2" descr="Логотип на цветном фоне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726488"/>
            <a:ext cx="3139135" cy="410865"/>
          </a:xfrm>
          <a:prstGeom prst="rect">
            <a:avLst/>
          </a:prstGeom>
        </p:spPr>
      </p:pic>
      <p:sp>
        <p:nvSpPr>
          <p:cNvPr id="15" name="logo-marks"/>
          <p:cNvSpPr/>
          <p:nvPr/>
        </p:nvSpPr>
        <p:spPr>
          <a:xfrm>
            <a:off x="7589520" y="4843272"/>
            <a:ext cx="4053535" cy="1420368"/>
          </a:xfrm>
          <a:prstGeom prst="roundRect">
            <a:avLst>
              <a:gd name="adj" fmla="val 386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955280" y="5096256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3" descr="Авата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5338912"/>
            <a:ext cx="566928" cy="429089"/>
          </a:xfrm>
          <a:prstGeom prst="rect">
            <a:avLst/>
          </a:prstGeom>
        </p:spPr>
      </p:pic>
      <p:pic>
        <p:nvPicPr>
          <p:cNvPr id="18" name="Image 4" descr="Знак 6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5228393"/>
            <a:ext cx="731520" cy="55366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144000" y="5836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50" dirty="0"/>
          </a:p>
        </p:txBody>
      </p:sp>
      <p:pic>
        <p:nvPicPr>
          <p:cNvPr id="20" name="Image 5" descr="Знак 3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5505225"/>
            <a:ext cx="365760" cy="276831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149840" y="5836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50" dirty="0"/>
          </a:p>
        </p:txBody>
      </p:sp>
      <p:pic>
        <p:nvPicPr>
          <p:cNvPr id="22" name="Image 6" descr="Знак 16 px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5629799"/>
            <a:ext cx="201168" cy="152257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789920" y="583692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px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Фотокорпус">
  <a:themeElements>
    <a:clrScheme name="Фотокорпус">
      <a:dk1>
        <a:srgbClr val="232528"/>
      </a:dk1>
      <a:lt1>
        <a:srgbClr val="FFFFFF"/>
      </a:lt1>
      <a:dk2>
        <a:srgbClr val="25272B"/>
      </a:dk2>
      <a:lt2>
        <a:srgbClr val="F7F6F4"/>
      </a:lt2>
      <a:accent1>
        <a:srgbClr val="7B1E2E"/>
      </a:accent1>
      <a:accent2>
        <a:srgbClr val="D9707F"/>
      </a:accent2>
      <a:accent3>
        <a:srgbClr val="5D6066"/>
      </a:accent3>
      <a:accent4>
        <a:srgbClr val="D8D5D2"/>
      </a:accent4>
      <a:accent5>
        <a:srgbClr val="F3E6E8"/>
      </a:accent5>
      <a:accent6>
        <a:srgbClr val="31343A"/>
      </a:accent6>
      <a:hlink>
        <a:srgbClr val="7B1E2E"/>
      </a:hlink>
      <a:folHlink>
        <a:srgbClr val="5D6066"/>
      </a:folHlink>
    </a:clrScheme>
    <a:fontScheme name="Фотокорпус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ФОТОКОРПУС — концепция бренда</dc:title>
  <dc:subject>PptxGenJS Presentation</dc:subject>
  <dc:creator>PptxGenJS</dc:creator>
  <cp:lastModifiedBy>PptxGenJS</cp:lastModifiedBy>
  <cp:revision>1</cp:revision>
  <dcterms:created xsi:type="dcterms:W3CDTF">2026-10-26T15:47:20Z</dcterms:created>
  <dcterms:modified xsi:type="dcterms:W3CDTF">2026-10-26T15:47:20Z</dcterms:modified>
</cp:coreProperties>
</file>