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4ffe903e-099a-c623-8a72-73050a991739}">
          <p14:sldIdLst>
            <p14:sldId id="256"/>
          </p14:sldIdLst>
        </p14:section>
        <p14:section name="Бизнес-модель" id="{f896d8ee-b482-cbdf-dbba-1d844eb840a6}">
          <p14:sldIdLst>
            <p14:sldId id="257"/>
            <p14:sldId id="258"/>
            <p14:sldId id="259"/>
            <p14:sldId id="260"/>
          </p14:sldIdLst>
        </p14:section>
        <p14:section name="Позиционирование" id="{65046dc4-b00e-b12b-c224-d8cdd07624ef}">
          <p14:sldIdLst>
            <p14:sldId id="261"/>
          </p14:sldIdLst>
        </p14:section>
        <p14:section name="Слоганы" id="{b2264e3e-3827-785b-fb1b-f75e49aab1c2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ёмный титул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нтент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БРЕНДА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Фотостудия для продавцов маркетплейсов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«Фабрика карточек» для Wildberries и Ozon: съёмка, инфографика и текст для тех, кто продаёт свой товар. Зеленоград.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«Снято честно. Проверено кликом.»</a:t>
            </a:r>
            <a:endParaRPr lang="en-US" sz="2200" dirty="0"/>
          </a:p>
        </p:txBody>
      </p:sp>
      <p:sp>
        <p:nvSpPr>
          <p:cNvPr id="6" name="title-card-1"/>
          <p:cNvSpPr/>
          <p:nvPr/>
        </p:nvSpPr>
        <p:spPr>
          <a:xfrm>
            <a:off x="548640" y="4663440"/>
            <a:ext cx="3545738" cy="1417320"/>
          </a:xfrm>
          <a:prstGeom prst="roundRect">
            <a:avLst>
              <a:gd name="adj" fmla="val 3871"/>
            </a:avLst>
          </a:prstGeom>
          <a:solidFill>
            <a:schemeClr val="accent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864608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продаём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21208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Карточку товара для Wildberries и Ozon: фото, инфографика и текст в одном пакете.</a:t>
            </a:r>
            <a:endParaRPr lang="en-US" sz="1300" dirty="0"/>
          </a:p>
        </p:txBody>
      </p:sp>
      <p:sp>
        <p:nvSpPr>
          <p:cNvPr id="9" name="title-card-2"/>
          <p:cNvSpPr/>
          <p:nvPr/>
        </p:nvSpPr>
        <p:spPr>
          <a:xfrm>
            <a:off x="4322978" y="4663440"/>
            <a:ext cx="3545738" cy="1417320"/>
          </a:xfrm>
          <a:prstGeom prst="roundRect">
            <a:avLst>
              <a:gd name="adj" fmla="val 3871"/>
            </a:avLst>
          </a:prstGeom>
          <a:solidFill>
            <a:schemeClr val="accent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51578" y="4864608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карточка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51578" y="5285232"/>
            <a:ext cx="960120" cy="347472"/>
          </a:xfrm>
          <a:prstGeom prst="roundRect">
            <a:avLst>
              <a:gd name="adj" fmla="val 50000"/>
            </a:avLst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51578" y="528523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Готовая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1426" y="5285232"/>
            <a:ext cx="1234440" cy="347472"/>
          </a:xfrm>
          <a:prstGeom prst="roundRect">
            <a:avLst>
              <a:gd name="adj" fmla="val 50000"/>
            </a:avLst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21426" y="528523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Продающая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65594" y="5285232"/>
            <a:ext cx="960120" cy="347472"/>
          </a:xfrm>
          <a:prstGeom prst="roundRect">
            <a:avLst>
              <a:gd name="adj" fmla="val 50000"/>
            </a:avLst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65594" y="528523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Честная</a:t>
            </a:r>
            <a:endParaRPr lang="en-US" sz="1200" dirty="0"/>
          </a:p>
        </p:txBody>
      </p:sp>
      <p:sp>
        <p:nvSpPr>
          <p:cNvPr id="17" name="title-card-3"/>
          <p:cNvSpPr/>
          <p:nvPr/>
        </p:nvSpPr>
        <p:spPr>
          <a:xfrm>
            <a:off x="8097317" y="4663440"/>
            <a:ext cx="3545738" cy="1417320"/>
          </a:xfrm>
          <a:prstGeom prst="roundRect">
            <a:avLst>
              <a:gd name="adj" fmla="val 3871"/>
            </a:avLst>
          </a:prstGeom>
          <a:solidFill>
            <a:schemeClr val="accent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25917" y="4864608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Территория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5917" y="521208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Зеленоград (ЗелАО, Москва). Снимаем в городе, образцы отдаём сразу после съёмки.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1 · ПРОИЗВОДСТВЕННЫЙ ПРОЦЕСС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От коробки до карточки за 48 часов</a:t>
            </a:r>
            <a:endParaRPr lang="en-US" sz="2800" dirty="0"/>
          </a:p>
        </p:txBody>
      </p:sp>
      <p:sp>
        <p:nvSpPr>
          <p:cNvPr id="4" name="step-1"/>
          <p:cNvSpPr/>
          <p:nvPr/>
        </p:nvSpPr>
        <p:spPr>
          <a:xfrm>
            <a:off x="548640" y="1600200"/>
            <a:ext cx="3545738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8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Бриф и разбор выдачи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Онлайн, 10 минут: категория, площадка, референсы. Смотрим топ выдачи по запросу клиента и находим, чем выделиться.</a:t>
            </a:r>
            <a:endParaRPr lang="en-US" sz="1400" dirty="0"/>
          </a:p>
        </p:txBody>
      </p:sp>
      <p:sp>
        <p:nvSpPr>
          <p:cNvPr id="7" name="step-2"/>
          <p:cNvSpPr/>
          <p:nvPr/>
        </p:nvSpPr>
        <p:spPr>
          <a:xfrm>
            <a:off x="4322978" y="1600200"/>
            <a:ext cx="3545738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1578" y="1801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51578" y="2377440"/>
            <a:ext cx="308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 товара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 приёма образцов, маркировка, проверка состояния, список кадров.</a:t>
            </a:r>
            <a:endParaRPr lang="en-US" sz="1400" dirty="0"/>
          </a:p>
        </p:txBody>
      </p:sp>
      <p:sp>
        <p:nvSpPr>
          <p:cNvPr id="10" name="step-3"/>
          <p:cNvSpPr/>
          <p:nvPr/>
        </p:nvSpPr>
        <p:spPr>
          <a:xfrm>
            <a:off x="8097317" y="1600200"/>
            <a:ext cx="3545738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5917" y="1801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325917" y="2377440"/>
            <a:ext cx="308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Съёмка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реальный товар: белый фон, сцены, детали, масштаб. Свет по типу товара. Образцы отдаём в тот же день.</a:t>
            </a:r>
            <a:endParaRPr lang="en-US" sz="1400" dirty="0"/>
          </a:p>
        </p:txBody>
      </p:sp>
      <p:sp>
        <p:nvSpPr>
          <p:cNvPr id="13" name="step-4"/>
          <p:cNvSpPr/>
          <p:nvPr/>
        </p:nvSpPr>
        <p:spPr>
          <a:xfrm>
            <a:off x="548640" y="3840480"/>
            <a:ext cx="3545738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041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17720"/>
            <a:ext cx="308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 как в жизни, ретушь, фон. Формат 3:4, от 900×1200 px. ИИ только для фона, сам товар не меняем.</a:t>
            </a:r>
            <a:endParaRPr lang="en-US" sz="1400" dirty="0"/>
          </a:p>
        </p:txBody>
      </p:sp>
      <p:sp>
        <p:nvSpPr>
          <p:cNvPr id="16" name="step-5"/>
          <p:cNvSpPr/>
          <p:nvPr/>
        </p:nvSpPr>
        <p:spPr>
          <a:xfrm>
            <a:off x="4322978" y="3840480"/>
            <a:ext cx="3545738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1578" y="4041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551578" y="4617720"/>
            <a:ext cx="308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Инфографика и текст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обложки, слайды с преимуществами и размерами, название, описание, характеристики, ключевые слова.</a:t>
            </a:r>
            <a:endParaRPr lang="en-US" sz="1400" dirty="0"/>
          </a:p>
        </p:txBody>
      </p:sp>
      <p:sp>
        <p:nvSpPr>
          <p:cNvPr id="19" name="step-6"/>
          <p:cNvSpPr/>
          <p:nvPr/>
        </p:nvSpPr>
        <p:spPr>
          <a:xfrm>
            <a:off x="8097317" y="3840480"/>
            <a:ext cx="3545738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5917" y="4041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325917" y="4617720"/>
            <a:ext cx="308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Сдача и тест обложки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готова за 48 часов, две правки включены. Затем A/B-тест двух обложек, оставляем ту, у которой выше CTR.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8932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WB до 30 фото в карточке, на Ozon до 15, на главном фото Ozon без инфографики. Тест обложки — в кабинете WB, для Ozon — внешние сервисы.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2 · ЦЕЛЕВАЯ АУДИТОРИЯ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Продавцы со своим товаром: 5–80 артикулов</a:t>
            </a:r>
            <a:endParaRPr lang="en-US" sz="2800" dirty="0"/>
          </a:p>
        </p:txBody>
      </p:sp>
      <p:sp>
        <p:nvSpPr>
          <p:cNvPr id="4" name="segment-1"/>
          <p:cNvSpPr/>
          <p:nvPr/>
        </p:nvSpPr>
        <p:spPr>
          <a:xfrm>
            <a:off x="548640" y="1600200"/>
            <a:ext cx="3545738" cy="3108960"/>
          </a:xfrm>
          <a:prstGeom prst="roundRect">
            <a:avLst>
              <a:gd name="adj" fmla="val 176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Мастера и мини-производства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рукодельники, мастерские, небольшие цеха.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Продают: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мыло, свечи, керамику, текстиль, украшения.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3703320"/>
            <a:ext cx="308853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813048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мы: </a:t>
            </a:r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 уникальный, фото от поставщика нет, нужен честный кадр.</a:t>
            </a:r>
            <a:endParaRPr lang="en-US" sz="1250" dirty="0"/>
          </a:p>
        </p:txBody>
      </p:sp>
      <p:sp>
        <p:nvSpPr>
          <p:cNvPr id="9" name="segment-2"/>
          <p:cNvSpPr/>
          <p:nvPr/>
        </p:nvSpPr>
        <p:spPr>
          <a:xfrm>
            <a:off x="4322978" y="1600200"/>
            <a:ext cx="3545738" cy="3108960"/>
          </a:xfrm>
          <a:prstGeom prst="roundRect">
            <a:avLst>
              <a:gd name="adj" fmla="val 176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1578" y="180136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Местные магазины и бренды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51578" y="2240280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офлайн-точки и салоны Зеленограда, которые выходят на маркетплейсы.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Продают: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одежду, подарки, зоотовары, товары для дома.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51578" y="3703320"/>
            <a:ext cx="308853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51578" y="3813048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мы: </a:t>
            </a:r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ассортимент есть, контента и опыта нет.</a:t>
            </a:r>
            <a:endParaRPr lang="en-US" sz="1250" dirty="0"/>
          </a:p>
        </p:txBody>
      </p:sp>
      <p:sp>
        <p:nvSpPr>
          <p:cNvPr id="14" name="segment-3"/>
          <p:cNvSpPr/>
          <p:nvPr/>
        </p:nvSpPr>
        <p:spPr>
          <a:xfrm>
            <a:off x="8097317" y="1600200"/>
            <a:ext cx="3545738" cy="3108960"/>
          </a:xfrm>
          <a:prstGeom prst="roundRect">
            <a:avLst>
              <a:gd name="adj" fmla="val 176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5917" y="180136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Начинающие продавцы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5917" y="2240280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выходят на маркетплейс: товар есть, а оборудования, опыта и навыков дизайна нет.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Продают: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артикулы: аксессуары, косметику, товары для дома.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25917" y="3703320"/>
            <a:ext cx="308853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5917" y="3813048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мы: </a:t>
            </a:r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получают карточку, которая с первого раза проходит требования WB и Ozon.</a:t>
            </a:r>
            <a:endParaRPr lang="en-US" sz="1250" dirty="0"/>
          </a:p>
        </p:txBody>
      </p:sp>
      <p:sp>
        <p:nvSpPr>
          <p:cNvPr id="19" name="pains"/>
          <p:cNvSpPr/>
          <p:nvPr/>
        </p:nvSpPr>
        <p:spPr>
          <a:xfrm>
            <a:off x="548640" y="4937760"/>
            <a:ext cx="11094415" cy="128016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166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Боли клиента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68880" y="5230368"/>
            <a:ext cx="82296" cy="822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633472" y="5157216"/>
            <a:ext cx="14782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Карточку видят, но не кликают: низкий CTR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4571" y="5230368"/>
            <a:ext cx="82296" cy="822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59163" y="5157216"/>
            <a:ext cx="14782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Возвраты и отзывы «не соответствует фото»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0262" y="5230368"/>
            <a:ext cx="82296" cy="822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84854" y="5157216"/>
            <a:ext cx="14782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времени искать фотографа, дизайнера и копирайтера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45953" y="5230368"/>
            <a:ext cx="82296" cy="822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10545" y="5157216"/>
            <a:ext cx="14782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Непонятны требования WB и Ozon к фото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771644" y="5230368"/>
            <a:ext cx="82296" cy="822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36236" y="5157216"/>
            <a:ext cx="14782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Заплатил за съёмку, а продаёт ли она, неизвестно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3 · КОНКУРЕНЦИЯ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Кто решает ту же задачу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2651760"/>
                <a:gridCol w="3154680"/>
                <a:gridCol w="23161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Конкурент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Сильные стороны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Слабые стороны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Наш ответ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Студии для маркетплейсов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Пиксель Плюс, Daily Studio, Кариба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карточка не готовая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Опыт, оборудование, серийная съёмка; от 1 000 ₽ за артикул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Часто сдают только фото; продаёт ли карточка, не проверяют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Карточка целиком и тест обложки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Частные фотографы и аренда залов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Профи.ру, Авито, Vibes Studio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карточка не готовая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Рядом, дёшево: от 1 000 ₽ в час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 стандарта и договора; ретушь и карточка на продавце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Стандарт, договор, две правки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Съёмка от площадок и фулфилмента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карточка не продающая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Удобно рядом со складом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Шаблонно, поверхностная карточка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Обложка под выдачу клиента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ИИ-съёмка и генерация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карточка не честная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Дёшево и быстро; студии обещают рост CTR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Товар «плывёт»; WB отклоняет сгенерированный товар и тестирует метку «Похоже на ИИ»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Реальный товар; ИИ только для фона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Фрилансеры-карточечники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карточка не готовая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SEO и инфографика; под ключ от 16 900 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 съёмки, фото берут у клиента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Один исполнитель на весь цикл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9788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Зеленограде уже есть студии, залы и фотографы, поэтому близость не преимущество: мы отличаемся проверенным результатом. Красная пометка — какого из трёх свойств нашей карточки не хватает конкуренту.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4 · РЕКЛАМА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Идём туда, где сидят наши продавцы</a:t>
            </a:r>
            <a:endParaRPr lang="en-US" sz="2800" dirty="0"/>
          </a:p>
        </p:txBody>
      </p:sp>
      <p:sp>
        <p:nvSpPr>
          <p:cNvPr id="4" name="channel-1"/>
          <p:cNvSpPr/>
          <p:nvPr/>
        </p:nvSpPr>
        <p:spPr>
          <a:xfrm>
            <a:off x="548640" y="1600200"/>
            <a:ext cx="5394960" cy="1420368"/>
          </a:xfrm>
          <a:prstGeom prst="roundRect">
            <a:avLst>
              <a:gd name="adj" fmla="val 386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55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Локальные каналы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493776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Чаты Зеленограда (ВК, Telegram), группы продавцов WB и Ozon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Объявления в коворкингах, у ПВЗ и точек доставки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Партнёрство с фулфилментами</a:t>
            </a:r>
            <a:endParaRPr lang="en-US" sz="1200" dirty="0"/>
          </a:p>
        </p:txBody>
      </p:sp>
      <p:sp>
        <p:nvSpPr>
          <p:cNvPr id="7" name="channel-2"/>
          <p:cNvSpPr/>
          <p:nvPr/>
        </p:nvSpPr>
        <p:spPr>
          <a:xfrm>
            <a:off x="548640" y="3221736"/>
            <a:ext cx="5394960" cy="1420368"/>
          </a:xfrm>
          <a:prstGeom prst="roundRect">
            <a:avLst>
              <a:gd name="adj" fmla="val 386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3771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реклама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78936"/>
            <a:ext cx="493776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Яндекс Директ и Карты: «фото для маркетплейсов Зеленоград»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в 2ГИС и Яндекс Картах с отзывами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Telegram-канал с разборами «до / после»</a:t>
            </a:r>
            <a:endParaRPr lang="en-US" sz="1200" dirty="0"/>
          </a:p>
        </p:txBody>
      </p:sp>
      <p:sp>
        <p:nvSpPr>
          <p:cNvPr id="10" name="channel-3"/>
          <p:cNvSpPr/>
          <p:nvPr/>
        </p:nvSpPr>
        <p:spPr>
          <a:xfrm>
            <a:off x="548640" y="4843272"/>
            <a:ext cx="5394960" cy="1420368"/>
          </a:xfrm>
          <a:prstGeom prst="roundRect">
            <a:avLst>
              <a:gd name="adj" fmla="val 386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998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Доверие и промо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300472"/>
            <a:ext cx="493776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съёмка одного артикула со скидкой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Бесплатный разбор чужой карточки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A/B-тестов обложек (с согласия клиентов)</a:t>
            </a:r>
            <a:endParaRPr lang="en-US" sz="1200" dirty="0"/>
          </a:p>
        </p:txBody>
      </p:sp>
      <p:sp>
        <p:nvSpPr>
          <p:cNvPr id="13" name="main-message"/>
          <p:cNvSpPr/>
          <p:nvPr/>
        </p:nvSpPr>
        <p:spPr>
          <a:xfrm>
            <a:off x="6172200" y="1600200"/>
            <a:ext cx="5470855" cy="4663440"/>
          </a:xfrm>
          <a:prstGeom prst="roundRect">
            <a:avLst>
              <a:gd name="adj" fmla="val 1176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1920240"/>
            <a:ext cx="4739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СООБЩЕНИЕ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286000"/>
            <a:ext cx="4739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«Снято честно. Проверено кликом.»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709160"/>
            <a:ext cx="4739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Слоган во всех каналах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Ролик «было / стало» с цифрами CTR из теста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каждом объявлении три слова: готовая, продающая, честная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5 · ПОЗИЦИОНИРОВАНИЕ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продаём и почему выбирают нас</a:t>
            </a:r>
            <a:endParaRPr lang="en-US" sz="2800" dirty="0"/>
          </a:p>
        </p:txBody>
      </p:sp>
      <p:sp>
        <p:nvSpPr>
          <p:cNvPr id="4" name="position-1"/>
          <p:cNvSpPr/>
          <p:nvPr/>
        </p:nvSpPr>
        <p:spPr>
          <a:xfrm>
            <a:off x="548640" y="1600200"/>
            <a:ext cx="2602154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83080"/>
            <a:ext cx="2199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ПО АТРИБУТУ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75688"/>
            <a:ext cx="2199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Готовая, продающая и честная карточка товара</a:t>
            </a:r>
            <a:endParaRPr lang="en-US" sz="1500" dirty="0"/>
          </a:p>
        </p:txBody>
      </p:sp>
      <p:sp>
        <p:nvSpPr>
          <p:cNvPr id="7" name="position-2"/>
          <p:cNvSpPr/>
          <p:nvPr/>
        </p:nvSpPr>
        <p:spPr>
          <a:xfrm>
            <a:off x="3379394" y="1600200"/>
            <a:ext cx="2602154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0562" y="1783080"/>
            <a:ext cx="2199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ПО ПРИМЕНЕНИЮ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580562" y="2075688"/>
            <a:ext cx="2199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Превращает показ в заказ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80562" y="2834640"/>
            <a:ext cx="21998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работает на маркетплейсе как витрина и продавец: показ в поиске → клик → корзина → заказ.</a:t>
            </a:r>
            <a:endParaRPr lang="en-US" sz="1150" dirty="0"/>
          </a:p>
        </p:txBody>
      </p:sp>
      <p:sp>
        <p:nvSpPr>
          <p:cNvPr id="11" name="position-3"/>
          <p:cNvSpPr/>
          <p:nvPr/>
        </p:nvSpPr>
        <p:spPr>
          <a:xfrm>
            <a:off x="6210148" y="1600200"/>
            <a:ext cx="2602154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1316" y="1783080"/>
            <a:ext cx="2199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ПО КАТЕГОРИИ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11316" y="2075688"/>
            <a:ext cx="2199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Контент для маркетплейсов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11316" y="2834640"/>
            <a:ext cx="21998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Фото, инфографика и SEO-текст карточки в одном пакете. Это шире фотоуслуги и шире дизайна.</a:t>
            </a:r>
            <a:endParaRPr lang="en-US" sz="1150" dirty="0"/>
          </a:p>
        </p:txBody>
      </p:sp>
      <p:sp>
        <p:nvSpPr>
          <p:cNvPr id="15" name="position-4"/>
          <p:cNvSpPr/>
          <p:nvPr/>
        </p:nvSpPr>
        <p:spPr>
          <a:xfrm>
            <a:off x="9040901" y="1600200"/>
            <a:ext cx="2602154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2069" y="1783080"/>
            <a:ext cx="2199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ПО ПОТРЕБИТЕЛЮ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242069" y="2075688"/>
            <a:ext cx="2199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Продавцы со своим товаром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42069" y="2834640"/>
            <a:ext cx="21998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Мастера, мини-производства, местные магазины и начинающие продавцы с 5–80 артикулами.</a:t>
            </a:r>
            <a:endParaRPr lang="en-US" sz="1150" dirty="0"/>
          </a:p>
        </p:txBody>
      </p:sp>
      <p:sp>
        <p:nvSpPr>
          <p:cNvPr id="19" name="position-5"/>
          <p:cNvSpPr/>
          <p:nvPr/>
        </p:nvSpPr>
        <p:spPr>
          <a:xfrm>
            <a:off x="548640" y="4041648"/>
            <a:ext cx="3545738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224528"/>
            <a:ext cx="314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ПО БЛАГУ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517136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Больше заказов, меньше возвратов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5276088"/>
            <a:ext cx="314340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приносит клики и заказы, реже возвращается с пометкой «не соответствует фото», а продавцу не нужно искать фотографа, дизайнера и копирайтера.</a:t>
            </a:r>
            <a:endParaRPr lang="en-US" sz="1150" dirty="0"/>
          </a:p>
        </p:txBody>
      </p:sp>
      <p:sp>
        <p:nvSpPr>
          <p:cNvPr id="23" name="position-6"/>
          <p:cNvSpPr/>
          <p:nvPr/>
        </p:nvSpPr>
        <p:spPr>
          <a:xfrm>
            <a:off x="4322978" y="4041648"/>
            <a:ext cx="3545738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24146" y="4224528"/>
            <a:ext cx="314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ПО ПРЕИМУЩЕСТВУ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24146" y="4517136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Обложка, проверенная тестом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24146" y="5276088"/>
            <a:ext cx="314340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Снимаем только реальный товар, делаем две обложки и оставляем ту, что набрала больше кликов в A/B-тесте.</a:t>
            </a:r>
            <a:endParaRPr lang="en-US" sz="1150" dirty="0"/>
          </a:p>
        </p:txBody>
      </p:sp>
      <p:sp>
        <p:nvSpPr>
          <p:cNvPr id="27" name="position-7"/>
          <p:cNvSpPr/>
          <p:nvPr/>
        </p:nvSpPr>
        <p:spPr>
          <a:xfrm>
            <a:off x="8097317" y="4041648"/>
            <a:ext cx="3545738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98485" y="4224528"/>
            <a:ext cx="314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ПО КОНКУРЕНТУ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298485" y="4517136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Честнее ИИ, полнее студии, надёжнее частника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98485" y="5276088"/>
            <a:ext cx="314340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подменяет товар, студия часто сдаёт только фото, частник работает без договора. Мы снимаем реальный товар, собираем карточку целиком и проверяем обложку.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6 · СЛОГАНЫ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Варианты слогана для бренда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7744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0020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«Снято честно. Проверено кликом.»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3774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37744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«От вещи до карточки»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5468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15468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«Из показа — в заказ»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93192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93192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«Заказы вместо возвратов»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70916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70916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«Для тех, кто продаёт своё»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4864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48640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«Честная карточка продаёт лучше»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Фотокорпус">
  <a:themeElements>
    <a:clrScheme name="Фотокорпус">
      <a:dk1>
        <a:srgbClr val="232528"/>
      </a:dk1>
      <a:lt1>
        <a:srgbClr val="FFFFFF"/>
      </a:lt1>
      <a:dk2>
        <a:srgbClr val="25272B"/>
      </a:dk2>
      <a:lt2>
        <a:srgbClr val="F7F6F4"/>
      </a:lt2>
      <a:accent1>
        <a:srgbClr val="7B1E2E"/>
      </a:accent1>
      <a:accent2>
        <a:srgbClr val="D9707F"/>
      </a:accent2>
      <a:accent3>
        <a:srgbClr val="5D6066"/>
      </a:accent3>
      <a:accent4>
        <a:srgbClr val="D8D5D2"/>
      </a:accent4>
      <a:accent5>
        <a:srgbClr val="F3E6E8"/>
      </a:accent5>
      <a:accent6>
        <a:srgbClr val="31343A"/>
      </a:accent6>
      <a:hlink>
        <a:srgbClr val="7B1E2E"/>
      </a:hlink>
      <a:folHlink>
        <a:srgbClr val="5D6066"/>
      </a:folHlink>
    </a:clrScheme>
    <a:fontScheme name="Фотокорпус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Фотостудия для продавцов маркетплейсов — концепция бренда</dc:title>
  <dc:subject>PptxGenJS Presentation</dc:subject>
  <dc:creator>PptxGenJS</dc:creator>
  <cp:lastModifiedBy>PptxGenJS</cp:lastModifiedBy>
  <cp:revision>1</cp:revision>
  <dcterms:created xsi:type="dcterms:W3CDTF">2026-10-27T11:26:38Z</dcterms:created>
  <dcterms:modified xsi:type="dcterms:W3CDTF">2026-10-27T11:26:38Z</dcterms:modified>
</cp:coreProperties>
</file>